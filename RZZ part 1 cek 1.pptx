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3" r:id="rId20"/>
    <p:sldId id="274" r:id="rId21"/>
  </p:sldIdLst>
  <p:sldSz cx="7556500" cy="10693400"/>
  <p:notesSz cx="6858000" cy="9144000"/>
  <p:embeddedFontLst>
    <p:embeddedFont>
      <p:font typeface="Mortend Bold" panose="020B0604020202020204" charset="0"/>
      <p:regular r:id="rId22"/>
    </p:embeddedFont>
    <p:embeddedFont>
      <p:font typeface="Oxanium" panose="020B0604020202020204" charset="2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2188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60000" cy="10692000"/>
          </a:xfrm>
          <a:custGeom>
            <a:avLst/>
            <a:gdLst/>
            <a:ahLst/>
            <a:cxnLst/>
            <a:rect l="l" t="t" r="r" b="b"/>
            <a:pathLst>
              <a:path w="7560000" h="10692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1" t="-4099" r="-1511" b="-409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9298" y="756000"/>
            <a:ext cx="1197187" cy="225833"/>
          </a:xfrm>
          <a:custGeom>
            <a:avLst/>
            <a:gdLst/>
            <a:ahLst/>
            <a:cxnLst/>
            <a:rect l="l" t="t" r="r" b="b"/>
            <a:pathLst>
              <a:path w="1197187" h="225833">
                <a:moveTo>
                  <a:pt x="0" y="0"/>
                </a:moveTo>
                <a:lnTo>
                  <a:pt x="1197187" y="0"/>
                </a:lnTo>
                <a:lnTo>
                  <a:pt x="1197187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548199" y="756000"/>
            <a:ext cx="519156" cy="225833"/>
          </a:xfrm>
          <a:custGeom>
            <a:avLst/>
            <a:gdLst/>
            <a:ahLst/>
            <a:cxnLst/>
            <a:rect l="l" t="t" r="r" b="b"/>
            <a:pathLst>
              <a:path w="519156" h="225833">
                <a:moveTo>
                  <a:pt x="0" y="0"/>
                </a:moveTo>
                <a:lnTo>
                  <a:pt x="519156" y="0"/>
                </a:lnTo>
                <a:lnTo>
                  <a:pt x="51915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15005" y="756000"/>
            <a:ext cx="728085" cy="225833"/>
          </a:xfrm>
          <a:custGeom>
            <a:avLst/>
            <a:gdLst/>
            <a:ahLst/>
            <a:cxnLst/>
            <a:rect l="l" t="t" r="r" b="b"/>
            <a:pathLst>
              <a:path w="728085" h="225833">
                <a:moveTo>
                  <a:pt x="0" y="0"/>
                </a:moveTo>
                <a:lnTo>
                  <a:pt x="728086" y="0"/>
                </a:lnTo>
                <a:lnTo>
                  <a:pt x="72808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90741" y="756000"/>
            <a:ext cx="422447" cy="225833"/>
          </a:xfrm>
          <a:custGeom>
            <a:avLst/>
            <a:gdLst/>
            <a:ahLst/>
            <a:cxnLst/>
            <a:rect l="l" t="t" r="r" b="b"/>
            <a:pathLst>
              <a:path w="422447" h="225833">
                <a:moveTo>
                  <a:pt x="0" y="0"/>
                </a:moveTo>
                <a:lnTo>
                  <a:pt x="422446" y="0"/>
                </a:lnTo>
                <a:lnTo>
                  <a:pt x="42244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960837" y="756000"/>
            <a:ext cx="781729" cy="225833"/>
          </a:xfrm>
          <a:custGeom>
            <a:avLst/>
            <a:gdLst/>
            <a:ahLst/>
            <a:cxnLst/>
            <a:rect l="l" t="t" r="r" b="b"/>
            <a:pathLst>
              <a:path w="781729" h="225833">
                <a:moveTo>
                  <a:pt x="0" y="0"/>
                </a:moveTo>
                <a:lnTo>
                  <a:pt x="781730" y="0"/>
                </a:lnTo>
                <a:lnTo>
                  <a:pt x="781730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22613" y="4693338"/>
            <a:ext cx="5114773" cy="652662"/>
            <a:chOff x="0" y="0"/>
            <a:chExt cx="6819698" cy="870217"/>
          </a:xfrm>
        </p:grpSpPr>
        <p:sp>
          <p:nvSpPr>
            <p:cNvPr id="9" name="Freeform 9"/>
            <p:cNvSpPr/>
            <p:nvPr/>
          </p:nvSpPr>
          <p:spPr>
            <a:xfrm>
              <a:off x="3255378" y="0"/>
              <a:ext cx="601698" cy="870217"/>
            </a:xfrm>
            <a:custGeom>
              <a:avLst/>
              <a:gdLst/>
              <a:ahLst/>
              <a:cxnLst/>
              <a:rect l="l" t="t" r="r" b="b"/>
              <a:pathLst>
                <a:path w="601698" h="870217">
                  <a:moveTo>
                    <a:pt x="0" y="0"/>
                  </a:moveTo>
                  <a:lnTo>
                    <a:pt x="601698" y="0"/>
                  </a:lnTo>
                  <a:lnTo>
                    <a:pt x="601698" y="870217"/>
                  </a:lnTo>
                  <a:lnTo>
                    <a:pt x="0" y="870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11018" r="-592956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3975127" y="84686"/>
              <a:ext cx="2844570" cy="700844"/>
            </a:xfrm>
            <a:custGeom>
              <a:avLst/>
              <a:gdLst/>
              <a:ahLst/>
              <a:cxnLst/>
              <a:rect l="l" t="t" r="r" b="b"/>
              <a:pathLst>
                <a:path w="2844570" h="700844">
                  <a:moveTo>
                    <a:pt x="0" y="0"/>
                  </a:moveTo>
                  <a:lnTo>
                    <a:pt x="2844571" y="0"/>
                  </a:lnTo>
                  <a:lnTo>
                    <a:pt x="2844571" y="700844"/>
                  </a:lnTo>
                  <a:lnTo>
                    <a:pt x="0" y="700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22138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3135922" cy="812019"/>
            </a:xfrm>
            <a:custGeom>
              <a:avLst/>
              <a:gdLst/>
              <a:ahLst/>
              <a:cxnLst/>
              <a:rect l="l" t="t" r="r" b="b"/>
              <a:pathLst>
                <a:path w="3135922" h="812019">
                  <a:moveTo>
                    <a:pt x="0" y="0"/>
                  </a:moveTo>
                  <a:lnTo>
                    <a:pt x="3135922" y="0"/>
                  </a:lnTo>
                  <a:lnTo>
                    <a:pt x="3135922" y="812019"/>
                  </a:lnTo>
                  <a:lnTo>
                    <a:pt x="0" y="812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32337" r="-112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5990217" y="756000"/>
            <a:ext cx="470485" cy="225833"/>
          </a:xfrm>
          <a:custGeom>
            <a:avLst/>
            <a:gdLst/>
            <a:ahLst/>
            <a:cxnLst/>
            <a:rect l="l" t="t" r="r" b="b"/>
            <a:pathLst>
              <a:path w="470485" h="225833">
                <a:moveTo>
                  <a:pt x="0" y="0"/>
                </a:moveTo>
                <a:lnTo>
                  <a:pt x="470485" y="0"/>
                </a:lnTo>
                <a:lnTo>
                  <a:pt x="470485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67645" y="2447859"/>
            <a:ext cx="5624711" cy="886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9"/>
              </a:lnSpc>
            </a:pPr>
            <a:r>
              <a:rPr lang="en-US" sz="4863">
                <a:solidFill>
                  <a:srgbClr val="D9EEF6"/>
                </a:solidFill>
                <a:latin typeface="Mortend Bold"/>
                <a:ea typeface="Mortend Bold"/>
                <a:cs typeface="Mortend Bold"/>
                <a:sym typeface="Mortend Bold"/>
              </a:rPr>
              <a:t>proposal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7645" y="2222434"/>
            <a:ext cx="5602199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D9EEF6"/>
                </a:solidFill>
                <a:latin typeface="Mortend Bold"/>
                <a:ea typeface="Mortend Bold"/>
                <a:cs typeface="Mortend Bold"/>
                <a:sym typeface="Mortend Bold"/>
              </a:rPr>
              <a:t>1st submission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8134" y="8381441"/>
            <a:ext cx="5341220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pusat inovasi </a:t>
            </a:r>
          </a:p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digital indonesia</a:t>
            </a:r>
          </a:p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8134" y="5555342"/>
            <a:ext cx="534122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berinovasi untuk masa depan,</a:t>
            </a:r>
          </a:p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memberdayakan talenta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728703"/>
            <a:ext cx="6048000" cy="8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ketentuan penulisan proposal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858592"/>
            <a:ext cx="6048000" cy="720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Proposal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wajib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ditulis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dalam Bahasa Indonesia yang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mudah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dipahami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Gunakan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bahasa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formal,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ringkas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dan langsung ke inti.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Hindari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penggunaan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jargon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teknis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berlebihan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tanpa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penjelasan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Fokus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pada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kejelasan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ide,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logika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dampak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nyata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bukan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sekadar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gaya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bahasa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Proposal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harus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mengikuti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struktur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template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resmi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disediakan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oleh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panitia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Setiap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harus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diisi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secara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proporsional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tidak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terlalu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panjang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satu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terlalu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lain.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Format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dokumen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Format file: PDF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file: Nama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Tim_Nama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Ketua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Tim_Proposal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Hackathon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Digdaya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2026.pdf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Spasi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1 – 1.15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Font: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bebas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mudah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dibaca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(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contoh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Arial, Calibri, Times New Roman)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Ukuran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font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utama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11–12 pt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Gambar, diagram,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tabel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ilustrasi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bersifat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opsional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Visual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hanya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digunakan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membantu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memperjelas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ide, bukan sebagai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dekorasi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Semua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visual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harus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Relevan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mudah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dibaca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diberi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judul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keterangan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singkat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perlu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Dapat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menambahkan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Referensi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sebagai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tambahan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akhir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dokumen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proposal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mengutip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pihak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lain.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Proposal yang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telah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diisi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dapat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diunggah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laman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submission dengan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bentuk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pdf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saja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Peserta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dapat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melampirkan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dokumen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tambahan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lain yang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relevan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link demo / prototype (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bersifat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opsional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1505637"/>
            <a:ext cx="1857895" cy="8430363"/>
            <a:chOff x="0" y="0"/>
            <a:chExt cx="520178" cy="23603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0178" cy="2360353"/>
            </a:xfrm>
            <a:custGeom>
              <a:avLst/>
              <a:gdLst/>
              <a:ahLst/>
              <a:cxnLst/>
              <a:rect l="l" t="t" r="r" b="b"/>
              <a:pathLst>
                <a:path w="520178" h="2360353">
                  <a:moveTo>
                    <a:pt x="61854" y="0"/>
                  </a:moveTo>
                  <a:lnTo>
                    <a:pt x="458323" y="0"/>
                  </a:lnTo>
                  <a:cubicBezTo>
                    <a:pt x="474728" y="0"/>
                    <a:pt x="490461" y="6517"/>
                    <a:pt x="502061" y="18117"/>
                  </a:cubicBezTo>
                  <a:cubicBezTo>
                    <a:pt x="513661" y="29717"/>
                    <a:pt x="520178" y="45450"/>
                    <a:pt x="520178" y="61854"/>
                  </a:cubicBezTo>
                  <a:lnTo>
                    <a:pt x="520178" y="2298498"/>
                  </a:lnTo>
                  <a:cubicBezTo>
                    <a:pt x="520178" y="2314903"/>
                    <a:pt x="513661" y="2330636"/>
                    <a:pt x="502061" y="2342236"/>
                  </a:cubicBezTo>
                  <a:cubicBezTo>
                    <a:pt x="490461" y="2353836"/>
                    <a:pt x="474728" y="2360353"/>
                    <a:pt x="458323" y="2360353"/>
                  </a:cubicBezTo>
                  <a:lnTo>
                    <a:pt x="61854" y="2360353"/>
                  </a:lnTo>
                  <a:cubicBezTo>
                    <a:pt x="45450" y="2360353"/>
                    <a:pt x="29717" y="2353836"/>
                    <a:pt x="18117" y="2342236"/>
                  </a:cubicBezTo>
                  <a:cubicBezTo>
                    <a:pt x="6517" y="2330636"/>
                    <a:pt x="0" y="2314903"/>
                    <a:pt x="0" y="2298498"/>
                  </a:cubicBezTo>
                  <a:lnTo>
                    <a:pt x="0" y="61854"/>
                  </a:lnTo>
                  <a:cubicBezTo>
                    <a:pt x="0" y="45450"/>
                    <a:pt x="6517" y="29717"/>
                    <a:pt x="18117" y="18117"/>
                  </a:cubicBezTo>
                  <a:cubicBezTo>
                    <a:pt x="29717" y="6517"/>
                    <a:pt x="45450" y="0"/>
                    <a:pt x="61854" y="0"/>
                  </a:cubicBezTo>
                  <a:close/>
                </a:path>
              </a:pathLst>
            </a:custGeom>
            <a:ln w="19050" cap="sq">
              <a:solidFill>
                <a:srgbClr val="1F489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20178" cy="2388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728703"/>
            <a:ext cx="6048000" cy="45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statements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851053" y="1505637"/>
            <a:ext cx="1857895" cy="8430363"/>
            <a:chOff x="0" y="0"/>
            <a:chExt cx="520178" cy="23603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0178" cy="2360353"/>
            </a:xfrm>
            <a:custGeom>
              <a:avLst/>
              <a:gdLst/>
              <a:ahLst/>
              <a:cxnLst/>
              <a:rect l="l" t="t" r="r" b="b"/>
              <a:pathLst>
                <a:path w="520178" h="2360353">
                  <a:moveTo>
                    <a:pt x="61854" y="0"/>
                  </a:moveTo>
                  <a:lnTo>
                    <a:pt x="458323" y="0"/>
                  </a:lnTo>
                  <a:cubicBezTo>
                    <a:pt x="474728" y="0"/>
                    <a:pt x="490461" y="6517"/>
                    <a:pt x="502061" y="18117"/>
                  </a:cubicBezTo>
                  <a:cubicBezTo>
                    <a:pt x="513661" y="29717"/>
                    <a:pt x="520178" y="45450"/>
                    <a:pt x="520178" y="61854"/>
                  </a:cubicBezTo>
                  <a:lnTo>
                    <a:pt x="520178" y="2298498"/>
                  </a:lnTo>
                  <a:cubicBezTo>
                    <a:pt x="520178" y="2314903"/>
                    <a:pt x="513661" y="2330636"/>
                    <a:pt x="502061" y="2342236"/>
                  </a:cubicBezTo>
                  <a:cubicBezTo>
                    <a:pt x="490461" y="2353836"/>
                    <a:pt x="474728" y="2360353"/>
                    <a:pt x="458323" y="2360353"/>
                  </a:cubicBezTo>
                  <a:lnTo>
                    <a:pt x="61854" y="2360353"/>
                  </a:lnTo>
                  <a:cubicBezTo>
                    <a:pt x="45450" y="2360353"/>
                    <a:pt x="29717" y="2353836"/>
                    <a:pt x="18117" y="2342236"/>
                  </a:cubicBezTo>
                  <a:cubicBezTo>
                    <a:pt x="6517" y="2330636"/>
                    <a:pt x="0" y="2314903"/>
                    <a:pt x="0" y="2298498"/>
                  </a:cubicBezTo>
                  <a:lnTo>
                    <a:pt x="0" y="61854"/>
                  </a:lnTo>
                  <a:cubicBezTo>
                    <a:pt x="0" y="45450"/>
                    <a:pt x="6517" y="29717"/>
                    <a:pt x="18117" y="18117"/>
                  </a:cubicBezTo>
                  <a:cubicBezTo>
                    <a:pt x="29717" y="6517"/>
                    <a:pt x="45450" y="0"/>
                    <a:pt x="61854" y="0"/>
                  </a:cubicBezTo>
                  <a:close/>
                </a:path>
              </a:pathLst>
            </a:custGeom>
            <a:ln w="19050" cap="sq">
              <a:solidFill>
                <a:srgbClr val="1F4894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520178" cy="2388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46105" y="1505637"/>
            <a:ext cx="1857895" cy="8430363"/>
            <a:chOff x="0" y="0"/>
            <a:chExt cx="520178" cy="23603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0178" cy="2360353"/>
            </a:xfrm>
            <a:custGeom>
              <a:avLst/>
              <a:gdLst/>
              <a:ahLst/>
              <a:cxnLst/>
              <a:rect l="l" t="t" r="r" b="b"/>
              <a:pathLst>
                <a:path w="520178" h="2360353">
                  <a:moveTo>
                    <a:pt x="61854" y="0"/>
                  </a:moveTo>
                  <a:lnTo>
                    <a:pt x="458323" y="0"/>
                  </a:lnTo>
                  <a:cubicBezTo>
                    <a:pt x="474728" y="0"/>
                    <a:pt x="490461" y="6517"/>
                    <a:pt x="502061" y="18117"/>
                  </a:cubicBezTo>
                  <a:cubicBezTo>
                    <a:pt x="513661" y="29717"/>
                    <a:pt x="520178" y="45450"/>
                    <a:pt x="520178" y="61854"/>
                  </a:cubicBezTo>
                  <a:lnTo>
                    <a:pt x="520178" y="2298498"/>
                  </a:lnTo>
                  <a:cubicBezTo>
                    <a:pt x="520178" y="2314903"/>
                    <a:pt x="513661" y="2330636"/>
                    <a:pt x="502061" y="2342236"/>
                  </a:cubicBezTo>
                  <a:cubicBezTo>
                    <a:pt x="490461" y="2353836"/>
                    <a:pt x="474728" y="2360353"/>
                    <a:pt x="458323" y="2360353"/>
                  </a:cubicBezTo>
                  <a:lnTo>
                    <a:pt x="61854" y="2360353"/>
                  </a:lnTo>
                  <a:cubicBezTo>
                    <a:pt x="45450" y="2360353"/>
                    <a:pt x="29717" y="2353836"/>
                    <a:pt x="18117" y="2342236"/>
                  </a:cubicBezTo>
                  <a:cubicBezTo>
                    <a:pt x="6517" y="2330636"/>
                    <a:pt x="0" y="2314903"/>
                    <a:pt x="0" y="2298498"/>
                  </a:cubicBezTo>
                  <a:lnTo>
                    <a:pt x="0" y="61854"/>
                  </a:lnTo>
                  <a:cubicBezTo>
                    <a:pt x="0" y="45450"/>
                    <a:pt x="6517" y="29717"/>
                    <a:pt x="18117" y="18117"/>
                  </a:cubicBezTo>
                  <a:cubicBezTo>
                    <a:pt x="29717" y="6517"/>
                    <a:pt x="45450" y="0"/>
                    <a:pt x="61854" y="0"/>
                  </a:cubicBezTo>
                  <a:close/>
                </a:path>
              </a:pathLst>
            </a:custGeom>
            <a:ln w="19050" cap="sq">
              <a:solidFill>
                <a:srgbClr val="1F4894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520178" cy="2388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56000" y="1538122"/>
            <a:ext cx="185692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Penguatan</a:t>
            </a:r>
            <a:r>
              <a:rPr lang="en-US" sz="15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5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Ketahanan</a:t>
            </a:r>
            <a:r>
              <a:rPr lang="en-US" sz="15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5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r>
              <a:rPr lang="en-US" sz="15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5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Keuangan</a:t>
            </a:r>
            <a:endParaRPr lang="en-US" sz="1500" dirty="0">
              <a:solidFill>
                <a:srgbClr val="1F4894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56000" y="2666272"/>
            <a:ext cx="1856928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Manajemen Risiko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6000" y="2959325"/>
            <a:ext cx="1856928" cy="108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Fraud Detection Systems (FDS)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APU/PPT, Tracing Transaction termasuk kripto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Perlindungan Konsumen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Cyber Security &amp; Data Protection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Regtech &amp; Suptech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6000" y="4336639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Elektronifikasi Keuangan Daerah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000" y="4856069"/>
            <a:ext cx="1856928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Sistem Pemungutan Pendapatan Daerah yang Cerdas (Smart Revenue Collection)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Smart Belanja Daerah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Smart City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Penasihat Investasi Daerah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Project Crowdfunding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000" y="6385784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Memperluas Investor Ritel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000" y="6905214"/>
            <a:ext cx="1856928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Penasihat Investasi Keuangan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Literasi Investor Ritel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Asisten Keuangan Pribadi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Analisis Perilaku Pasar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Rekomendasi Produk Keuangan dan Analisis Risiko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6000" y="8130129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Keuangan Syariah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6000" y="8649559"/>
            <a:ext cx="1856928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Investasi SUKUK Digital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Analitik ZISWAF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Sertifikasi Halal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Komersialisasi Produk Pesantren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Pembiayaan UMKM Syariah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29919" y="1538122"/>
            <a:ext cx="1699195" cy="16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Peningkatan</a:t>
            </a:r>
            <a:r>
              <a:rPr lang="en-US" sz="15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5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Produktivitas</a:t>
            </a:r>
            <a:r>
              <a:rPr lang="en-US" sz="15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5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Ketahanan</a:t>
            </a:r>
            <a:r>
              <a:rPr lang="en-US" sz="15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Pangan, dan </a:t>
            </a:r>
            <a:r>
              <a:rPr lang="en-US" sz="15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Penciptaan</a:t>
            </a:r>
            <a:r>
              <a:rPr lang="en-US" sz="15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5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Lapangan</a:t>
            </a:r>
            <a:r>
              <a:rPr lang="en-US" sz="15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5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Kerja</a:t>
            </a:r>
            <a:endParaRPr lang="en-US" sz="1500" dirty="0">
              <a:solidFill>
                <a:srgbClr val="1F4894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906259" y="3462244"/>
            <a:ext cx="174651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Inklusi Ekonomi (UMKM)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65898" y="3969609"/>
            <a:ext cx="1814854" cy="138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Pemanfaatan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Data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Alternatif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/ Credit Scoring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 Advisor untuk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Ekspor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UMKM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Scoring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Kesiapan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Ekspor</a:t>
            </a:r>
            <a:endParaRPr lang="en-US" sz="900" dirty="0">
              <a:solidFill>
                <a:srgbClr val="1F4894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B2B Matchmaking untuk Bahan Baku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Matchmaking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Pembeli-Penjual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Ekspor</a:t>
            </a:r>
            <a:endParaRPr lang="en-US" sz="900" dirty="0">
              <a:solidFill>
                <a:srgbClr val="1F4894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851053" y="5663669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</a:t>
            </a:r>
            <a:r>
              <a:rPr lang="en-US" sz="13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Ketahanan</a:t>
            </a:r>
            <a:r>
              <a:rPr lang="en-US" sz="13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Pangan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65898" y="6173573"/>
            <a:ext cx="1856928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Penjualan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Langsung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Petani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ke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Konsumen</a:t>
            </a:r>
            <a:endParaRPr lang="en-US" sz="900" dirty="0">
              <a:solidFill>
                <a:srgbClr val="1F4894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Matching Demand-Supply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Antarwilayah</a:t>
            </a:r>
            <a:endParaRPr lang="en-US" sz="900" dirty="0">
              <a:solidFill>
                <a:srgbClr val="1F4894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Pemantauan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Inflasi</a:t>
            </a:r>
            <a:endParaRPr lang="en-US" sz="900" dirty="0">
              <a:solidFill>
                <a:srgbClr val="1F4894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Pembiayaan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Petani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&amp;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Penajaman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Sasaran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Subsidi</a:t>
            </a:r>
            <a:endParaRPr lang="en-US" sz="900" dirty="0">
              <a:solidFill>
                <a:srgbClr val="1F4894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Logistik Pangan Cerdas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996184" y="7703288"/>
            <a:ext cx="1596356" cy="70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</a:t>
            </a:r>
            <a:r>
              <a:rPr lang="en-US" sz="13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Penciptaan</a:t>
            </a:r>
            <a:r>
              <a:rPr lang="en-US" sz="13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Lapangan</a:t>
            </a:r>
            <a:r>
              <a:rPr lang="en-US" sz="13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Kerja</a:t>
            </a:r>
            <a:endParaRPr lang="en-US" sz="1300" dirty="0">
              <a:solidFill>
                <a:srgbClr val="1F4894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865898" y="8441793"/>
            <a:ext cx="1856928" cy="108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Job Matching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Berbasis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Kecerdasan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Artifisial</a:t>
            </a:r>
            <a:endParaRPr lang="en-US" sz="900" dirty="0">
              <a:solidFill>
                <a:srgbClr val="1F4894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Skill Gap Advisor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Personalized Training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Analitik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Kesesuaian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Pekerjaan</a:t>
            </a: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 dan Tenaga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Kerja</a:t>
            </a:r>
            <a:endParaRPr lang="en-US" sz="900" dirty="0">
              <a:solidFill>
                <a:srgbClr val="1F4894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 dirty="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Job Matching </a:t>
            </a:r>
            <a:r>
              <a:rPr lang="en-US" sz="900" dirty="0" err="1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Antarwilayah</a:t>
            </a:r>
            <a:endParaRPr lang="en-US" sz="900" dirty="0">
              <a:solidFill>
                <a:srgbClr val="1F4894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025455" y="1538122"/>
            <a:ext cx="1699195" cy="136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Percepatan Layanan Publik, Ekonomi Kreatif, dan Ekspor Jasa Digital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46105" y="3194787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Layanan Publik &amp; Pariwisata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37498" y="3693384"/>
            <a:ext cx="1856928" cy="153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Integrated Smart Ticketing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Personalisasi Pengalaman Pariwisata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Perizinan dan Pengawasan Vendor MBG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Pengayaan Data untuk Penyaluran Bantuan Sosial Digital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Pemantauan dan Restorasi Lingkungan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69454" y="5527899"/>
            <a:ext cx="18345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Ekonomi Kreatif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60951" y="6026497"/>
            <a:ext cx="1834546" cy="108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Permainan untuk Nasionalisme dan Edukasi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Animasi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Museum dan Warisan Budaya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IP Protection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Market Insight Industri Kreatif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77958" y="7403811"/>
            <a:ext cx="18345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Ekspor Layanan Digital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969454" y="7902409"/>
            <a:ext cx="1834546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Kerja Jarak Jauh (Remote-work)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Layanan IT &amp; Software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Penyelesaian Transaksi Lintas Negara (Cross-Border)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Otomatisasi Layanan Pelanggan Multibahasa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Local Language AI (LLM)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0333" y="1253850"/>
            <a:ext cx="4644093" cy="312179"/>
            <a:chOff x="0" y="0"/>
            <a:chExt cx="1300264" cy="874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team identity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1254999"/>
            <a:ext cx="770731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Tim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6000" y="1652100"/>
            <a:ext cx="1298108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Ketua Tim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50333" y="1650950"/>
            <a:ext cx="4644093" cy="312179"/>
            <a:chOff x="0" y="0"/>
            <a:chExt cx="1300264" cy="874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Muhammad Rozagi	</a:t>
              </a: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50333" y="2048854"/>
            <a:ext cx="4644093" cy="312179"/>
            <a:chOff x="0" y="0"/>
            <a:chExt cx="1300264" cy="874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083173289305</a:t>
              </a: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56000" y="2050004"/>
            <a:ext cx="824722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Kontak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50333" y="3504390"/>
            <a:ext cx="4644093" cy="1160526"/>
            <a:chOff x="0" y="-38100"/>
            <a:chExt cx="1300264" cy="3249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0264" cy="286827"/>
            </a:xfrm>
            <a:custGeom>
              <a:avLst/>
              <a:gdLst/>
              <a:ahLst/>
              <a:cxnLst/>
              <a:rect l="l" t="t" r="r" b="b"/>
              <a:pathLst>
                <a:path w="1300264" h="286827">
                  <a:moveTo>
                    <a:pt x="0" y="0"/>
                  </a:moveTo>
                  <a:lnTo>
                    <a:pt x="1300264" y="0"/>
                  </a:lnTo>
                  <a:lnTo>
                    <a:pt x="1300264" y="286827"/>
                  </a:lnTo>
                  <a:lnTo>
                    <a:pt x="0" y="2868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Regina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Adelisa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- Data Analyst &amp; Research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Muhammad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Zhafran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- Frontend Developer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Salsadilla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Azizi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Firda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- UI/UX Designer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00264" cy="324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56000" y="3641620"/>
            <a:ext cx="129810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Anggota Tim &amp; Peran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000" y="4693491"/>
            <a:ext cx="6062362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Ringkasan Tim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Siapa tim Anda dan kenapa relevan dengan solusi ini?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(maks. 600 karakter)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56000" y="5379925"/>
            <a:ext cx="6038425" cy="3163456"/>
            <a:chOff x="0" y="0"/>
            <a:chExt cx="1690653" cy="8857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90653" cy="885712"/>
            </a:xfrm>
            <a:custGeom>
              <a:avLst/>
              <a:gdLst/>
              <a:ahLst/>
              <a:cxnLst/>
              <a:rect l="l" t="t" r="r" b="b"/>
              <a:pathLst>
                <a:path w="1690653" h="885712">
                  <a:moveTo>
                    <a:pt x="0" y="0"/>
                  </a:moveTo>
                  <a:lnTo>
                    <a:pt x="1690653" y="0"/>
                  </a:lnTo>
                  <a:lnTo>
                    <a:pt x="1690653" y="885712"/>
                  </a:lnTo>
                  <a:lnTo>
                    <a:pt x="0" y="8857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 kami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terdiri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mahasiswa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Teknik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Informatika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Statistika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berfokus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pada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pengembangan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digital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menjawab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permasalahan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nyata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khususnya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dalam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akses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pencocokan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peluang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Berangkat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kebutuhan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sistem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lebih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efisien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tepat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sasaran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kami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menghadirkan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inovasi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mengintegrasikan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teknologi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analisis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data. Solusi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tidak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hanya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inovatif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tetapi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juga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realistis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diterapkan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serta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berpotensi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mendukung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peningkatan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produktivitas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penciptaan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lapangan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90653" cy="914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150333" y="2446758"/>
            <a:ext cx="4644093" cy="312179"/>
            <a:chOff x="0" y="0"/>
            <a:chExt cx="1300264" cy="8740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muhammadrozagi09@gmail.com</a:t>
              </a: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6000" y="2447908"/>
            <a:ext cx="508397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Email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150333" y="2844662"/>
            <a:ext cx="4644093" cy="312179"/>
            <a:chOff x="0" y="0"/>
            <a:chExt cx="1300264" cy="8740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Universitas Bengkulu</a:t>
              </a: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56000" y="2845812"/>
            <a:ext cx="770731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Institusi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150333" y="3242566"/>
            <a:ext cx="4644093" cy="312179"/>
            <a:chOff x="0" y="0"/>
            <a:chExt cx="1300264" cy="8740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https://www.linkedin.com/in/muhammadrozagi/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56000" y="3243716"/>
            <a:ext cx="1212205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Link Portofolio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team identity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2064" y="1196700"/>
            <a:ext cx="6062362" cy="155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Executive Summary Project</a:t>
            </a:r>
          </a:p>
          <a:p>
            <a:pPr algn="just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ringkasan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eksekutif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proyek Anda,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proyek ini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mendukung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tema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Hackathon,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proyek ini dapat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memberikan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dampak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positif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bagi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ekonomi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digital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lanskap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keuangan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Indonesia.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Pastikan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untuk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menyertakan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problem statement yang Anda coba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jawab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dengan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inovatif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600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32064" y="2821909"/>
            <a:ext cx="6071936" cy="3163456"/>
            <a:chOff x="0" y="0"/>
            <a:chExt cx="1700035" cy="8857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00035" cy="885712"/>
            </a:xfrm>
            <a:custGeom>
              <a:avLst/>
              <a:gdLst/>
              <a:ahLst/>
              <a:cxnLst/>
              <a:rect l="l" t="t" r="r" b="b"/>
              <a:pathLst>
                <a:path w="1700035" h="885712">
                  <a:moveTo>
                    <a:pt x="0" y="0"/>
                  </a:moveTo>
                  <a:lnTo>
                    <a:pt x="1700035" y="0"/>
                  </a:lnTo>
                  <a:lnTo>
                    <a:pt x="1700035" y="885712"/>
                  </a:lnTo>
                  <a:lnTo>
                    <a:pt x="0" y="8857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Proyek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berangkat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permasalahan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ketidaksesuaian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antara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pencari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kebutuhan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industri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menyebabkan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rendahnya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efisiensi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pasar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tenaga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menjawab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hal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tersebut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kami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mengembangkan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platform job matching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kecerdasan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artifisial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mampu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merekomendasikan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pekerjaan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tepat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sasaran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Solusi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mendukung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digitalisasi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ekonomi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meningkatkan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produktivitas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tenaga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memperluas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akses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peluang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serta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mendorong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pertumbuhan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ekonomi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digital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inklusi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keuangan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 Indonesia.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700035" cy="914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1829984"/>
            <a:ext cx="6048000" cy="805969"/>
            <a:chOff x="0" y="-28575"/>
            <a:chExt cx="1693333" cy="225657"/>
          </a:xfrm>
        </p:grpSpPr>
        <p:sp>
          <p:nvSpPr>
            <p:cNvPr id="3" name="Freeform 3"/>
            <p:cNvSpPr/>
            <p:nvPr/>
          </p:nvSpPr>
          <p:spPr>
            <a:xfrm>
              <a:off x="0" y="26867"/>
              <a:ext cx="1693333" cy="170215"/>
            </a:xfrm>
            <a:custGeom>
              <a:avLst/>
              <a:gdLst/>
              <a:ahLst/>
              <a:cxnLst/>
              <a:rect l="l" t="t" r="r" b="b"/>
              <a:pathLst>
                <a:path w="1693333" h="170215">
                  <a:moveTo>
                    <a:pt x="0" y="0"/>
                  </a:moveTo>
                  <a:lnTo>
                    <a:pt x="1693333" y="0"/>
                  </a:lnTo>
                  <a:lnTo>
                    <a:pt x="1693333" y="170215"/>
                  </a:lnTo>
                  <a:lnTo>
                    <a:pt x="0" y="170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Peningkatan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Produktivitas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Ketahanan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Pangan,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Penciptaan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Lapangan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93333" cy="198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6000" y="3051393"/>
            <a:ext cx="6048000" cy="957659"/>
            <a:chOff x="0" y="-28575"/>
            <a:chExt cx="1693333" cy="2681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239553"/>
            </a:xfrm>
            <a:custGeom>
              <a:avLst/>
              <a:gdLst/>
              <a:ahLst/>
              <a:cxnLst/>
              <a:rect l="l" t="t" r="r" b="b"/>
              <a:pathLst>
                <a:path w="1693333" h="239553">
                  <a:moveTo>
                    <a:pt x="0" y="0"/>
                  </a:moveTo>
                  <a:lnTo>
                    <a:pt x="1693333" y="0"/>
                  </a:lnTo>
                  <a:lnTo>
                    <a:pt x="1693333" y="239553"/>
                  </a:lnTo>
                  <a:lnTo>
                    <a:pt x="0" y="2395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>
                <a:lnSpc>
                  <a:spcPct val="150000"/>
                </a:lnSpc>
              </a:pP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Digitalisasi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Penciptaan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Lapangan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b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Platform Job Matching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Kecerdasan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Artifisial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Skill Gap Advisor</a:t>
              </a:r>
            </a:p>
            <a:p>
              <a:pPr>
                <a:lnSpc>
                  <a:spcPct val="150000"/>
                </a:lnSpc>
              </a:pP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268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000" y="4707726"/>
            <a:ext cx="6062362" cy="4378361"/>
            <a:chOff x="0" y="-28575"/>
            <a:chExt cx="1697354" cy="1225864"/>
          </a:xfrm>
        </p:grpSpPr>
        <p:sp>
          <p:nvSpPr>
            <p:cNvPr id="9" name="Freeform 9"/>
            <p:cNvSpPr/>
            <p:nvPr/>
          </p:nvSpPr>
          <p:spPr>
            <a:xfrm>
              <a:off x="4021" y="56347"/>
              <a:ext cx="1693333" cy="1140942"/>
            </a:xfrm>
            <a:custGeom>
              <a:avLst/>
              <a:gdLst/>
              <a:ahLst/>
              <a:cxnLst/>
              <a:rect l="l" t="t" r="r" b="b"/>
              <a:pathLst>
                <a:path w="1693333" h="1140942">
                  <a:moveTo>
                    <a:pt x="0" y="0"/>
                  </a:moveTo>
                  <a:lnTo>
                    <a:pt x="1693333" y="0"/>
                  </a:lnTo>
                  <a:lnTo>
                    <a:pt x="1693333" y="1140942"/>
                  </a:lnTo>
                  <a:lnTo>
                    <a:pt x="0" y="11409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Tujuan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utama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inovasi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adalah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meningkatkan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akurasi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relevansi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proses </a:t>
              </a:r>
              <a:r>
                <a:rPr lang="en-ID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job matching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fresh graduate 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melalui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pemanfaatan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kecerdasan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artifisial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analisis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nyata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GitHub,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CV. Platform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menargetkan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identifikasi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kebutuhan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industri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objektif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melalui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bahasa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pemrograman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aktivitas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proyek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teknologi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Selain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sistem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memberikan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rekomendasi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gap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spesifik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terarah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membantu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pengguna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meningkatkan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kesiapan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peluang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diterima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1169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statement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000" y="1607314"/>
            <a:ext cx="2411214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Problem Statement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Dipilih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56000" y="2667043"/>
            <a:ext cx="2354659" cy="437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Sub-Problem Statement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Acuan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56000" y="4132877"/>
            <a:ext cx="485378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Tujuan Utama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tujuan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utama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target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spesifik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ingin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dicapai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800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6000" y="1264524"/>
            <a:ext cx="4605635" cy="21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Silakan cek halaman 0 untuk penulisan Problem Statement yang sesuai.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1825649"/>
            <a:ext cx="6048000" cy="4976084"/>
            <a:chOff x="0" y="-28575"/>
            <a:chExt cx="1693333" cy="1393216"/>
          </a:xfrm>
        </p:grpSpPr>
        <p:sp>
          <p:nvSpPr>
            <p:cNvPr id="3" name="Freeform 3"/>
            <p:cNvSpPr/>
            <p:nvPr/>
          </p:nvSpPr>
          <p:spPr>
            <a:xfrm>
              <a:off x="0" y="15686"/>
              <a:ext cx="1693333" cy="1348955"/>
            </a:xfrm>
            <a:custGeom>
              <a:avLst/>
              <a:gdLst/>
              <a:ahLst/>
              <a:cxnLst/>
              <a:rect l="l" t="t" r="r" b="b"/>
              <a:pathLst>
                <a:path w="1693333" h="1348955">
                  <a:moveTo>
                    <a:pt x="0" y="0"/>
                  </a:moveTo>
                  <a:lnTo>
                    <a:pt x="1693333" y="0"/>
                  </a:lnTo>
                  <a:lnTo>
                    <a:pt x="1693333" y="1348955"/>
                  </a:lnTo>
                  <a:lnTo>
                    <a:pt x="0" y="13489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Proses </a:t>
              </a:r>
              <a:r>
                <a:rPr lang="en-ID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job matching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fresh graduate 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masih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belum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optimal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karena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umumnya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mengandalkan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CV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bersifat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deklaratif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tidak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selalu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mencerminkan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kemampuan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nyata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Hal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menyebabkan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terjadinya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skills mismatch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kompetensi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lulusan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kebutuhan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industri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dipengaruhi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oleh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ketidaksesuaian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kurikulum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pendidikan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perkembangan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teknologi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cepat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Handayani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Nurmalasari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2026). 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Selain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rekrutmen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modern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telah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bergeser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menuju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perekrutan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skill, di mana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perusahaan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lebih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menekankan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kemampuan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nyata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dibandingkan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gelar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formal (Bone et al., 2025).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Namun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hingga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masih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terbatas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platform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mampu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memanfaatkan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riil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seperti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GitHub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melakukan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analisis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objektif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bukti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sehingga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proses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belum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sepenuhnya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akurat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relevan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93333" cy="137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definition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1254999"/>
            <a:ext cx="2408436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 Masalah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Utamanya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Masalah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harus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spesifik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bukan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umum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1000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6425" y="7546443"/>
            <a:ext cx="6048000" cy="2341499"/>
            <a:chOff x="0" y="0"/>
            <a:chExt cx="1693333" cy="6555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655578"/>
            </a:xfrm>
            <a:custGeom>
              <a:avLst/>
              <a:gdLst/>
              <a:ahLst/>
              <a:cxnLst/>
              <a:rect l="l" t="t" r="r" b="b"/>
              <a:pathLst>
                <a:path w="1693333" h="655578">
                  <a:moveTo>
                    <a:pt x="0" y="0"/>
                  </a:moveTo>
                  <a:lnTo>
                    <a:pt x="1693333" y="0"/>
                  </a:lnTo>
                  <a:lnTo>
                    <a:pt x="1693333" y="655578"/>
                  </a:lnTo>
                  <a:lnTo>
                    <a:pt x="0" y="6555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Pihak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terdampak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utama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adalah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fresh graduate di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bidang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teknologi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mengalami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kesulitan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dalam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menentukan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posisi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pekerjaan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sesuai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kemampuan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mereka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Selain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perusahaan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recruiter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juga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terdampak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karena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kesulitan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menemukan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benar-benar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sesuai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kebutuhan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Dampak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terjadi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luas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mengingat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jumlah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lulusan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IT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terus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meningkat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setiap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tahun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sementara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kebutuhan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industri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berkembang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cepat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Tanpa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sistem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data, proses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rekrutmen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menjadi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kurang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efisien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berpotensi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meningkatkan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waktu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seleksi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serta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menghasilkan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ketidaksesuaian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pekerjaan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ditawarkan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684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46425" y="6873733"/>
            <a:ext cx="6057575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Siapa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Terdampak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Seberapa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Besar?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pengguna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/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institusi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/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industri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terdampak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0362" y="3356548"/>
            <a:ext cx="6033638" cy="4569289"/>
            <a:chOff x="0" y="-28575"/>
            <a:chExt cx="1689312" cy="1279321"/>
          </a:xfrm>
        </p:grpSpPr>
        <p:sp>
          <p:nvSpPr>
            <p:cNvPr id="3" name="Freeform 3"/>
            <p:cNvSpPr/>
            <p:nvPr/>
          </p:nvSpPr>
          <p:spPr>
            <a:xfrm>
              <a:off x="0" y="40466"/>
              <a:ext cx="1689312" cy="1210280"/>
            </a:xfrm>
            <a:custGeom>
              <a:avLst/>
              <a:gdLst/>
              <a:ahLst/>
              <a:cxnLst/>
              <a:rect l="l" t="t" r="r" b="b"/>
              <a:pathLst>
                <a:path w="1689312" h="1210280">
                  <a:moveTo>
                    <a:pt x="0" y="0"/>
                  </a:moveTo>
                  <a:lnTo>
                    <a:pt x="1689312" y="0"/>
                  </a:lnTo>
                  <a:lnTo>
                    <a:pt x="1689312" y="1210280"/>
                  </a:lnTo>
                  <a:lnTo>
                    <a:pt x="0" y="1210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Studi oleh Boston Consulting Group (2024)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menunjukkan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bahwa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meskipun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perusahaan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mulai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beralih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pendekatan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skill-based hiring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proses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seleksi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masih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banyak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bergantung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pada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kualifikasi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formal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dalam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CV,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sehingga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kemampuan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nyata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belum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sepenuhnya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dapat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dinilai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objektif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Di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lain,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laporan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industri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seperti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Stack Overflow Developer Survey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menunjukkan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bahwa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kebutuhan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teknologi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terus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berkembang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cepat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sehingga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menyulitkan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proses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akurat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observasi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banyak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fresh graduate IT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telah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memiliki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portofolio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proyek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 GitHub,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namun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belum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dimanfaatkan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optimal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dalam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proses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rekrutmen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Hal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menyebabkan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kemampuan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nyata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tidak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terukur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baik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proses </a:t>
              </a:r>
              <a:r>
                <a:rPr lang="en-ID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job matching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menjadi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kurang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efektif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  <a:p>
              <a:pPr algn="just">
                <a:lnSpc>
                  <a:spcPct val="150000"/>
                </a:lnSpc>
              </a:pP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89312" cy="1238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definition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2785898"/>
            <a:ext cx="3739853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Bukti Masalah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Data,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laporan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observasi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regulasi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atau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pengalaman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nyata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800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56000" y="1312149"/>
            <a:ext cx="6048000" cy="1350899"/>
            <a:chOff x="0" y="0"/>
            <a:chExt cx="1693333" cy="3782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378228"/>
            </a:xfrm>
            <a:custGeom>
              <a:avLst/>
              <a:gdLst/>
              <a:ahLst/>
              <a:cxnLst/>
              <a:rect l="l" t="t" r="r" b="b"/>
              <a:pathLst>
                <a:path w="1693333" h="378228">
                  <a:moveTo>
                    <a:pt x="0" y="0"/>
                  </a:moveTo>
                  <a:lnTo>
                    <a:pt x="1693333" y="0"/>
                  </a:lnTo>
                  <a:lnTo>
                    <a:pt x="1693333" y="378228"/>
                  </a:lnTo>
                  <a:lnTo>
                    <a:pt x="0" y="3782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40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proposed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 Inti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Deskripsikan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secara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umum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ajukan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tersebut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bekerja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900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4570349"/>
            <a:chOff x="0" y="0"/>
            <a:chExt cx="1681156" cy="12796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279617"/>
            </a:xfrm>
            <a:custGeom>
              <a:avLst/>
              <a:gdLst/>
              <a:ahLst/>
              <a:cxnLst/>
              <a:rect l="l" t="t" r="r" b="b"/>
              <a:pathLst>
                <a:path w="1681156" h="1279617">
                  <a:moveTo>
                    <a:pt x="0" y="0"/>
                  </a:moveTo>
                  <a:lnTo>
                    <a:pt x="1681156" y="0"/>
                  </a:lnTo>
                  <a:lnTo>
                    <a:pt x="1681156" y="1279617"/>
                  </a:lnTo>
                  <a:lnTo>
                    <a:pt x="0" y="12796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Solusi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diajukan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adalah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platform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yaitu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website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sistem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job matching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kecerdasan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artifisial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memanfaatkan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nyata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GitHub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menilai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kemampuan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Sistem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mengambil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repository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pengguna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kemudian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mengekstrak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seperti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bahasa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pemrograman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aktivitas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proyek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teknologi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tersebut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selanjutnya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dibandingkan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kebutuhan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pada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berbagai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pekerjaan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metode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similarity matching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menghasilkan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skor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Selain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platform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juga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memberikan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analisis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gap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menunjukkan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keterampilan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perlu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ditingkatkan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oleh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pengguna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agar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lebih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sesuai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kebutuhan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industri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sehingga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proses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menjadi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lebih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objektif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akurat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308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6626083"/>
            <a:ext cx="5946651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Gambar /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Ilustrasi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/ Skema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ada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56000" y="7112493"/>
            <a:ext cx="6048000" cy="2823507"/>
            <a:chOff x="0" y="0"/>
            <a:chExt cx="1693333" cy="7905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3333" cy="790532"/>
            </a:xfrm>
            <a:custGeom>
              <a:avLst/>
              <a:gdLst/>
              <a:ahLst/>
              <a:cxnLst/>
              <a:rect l="l" t="t" r="r" b="b"/>
              <a:pathLst>
                <a:path w="1693333" h="790532">
                  <a:moveTo>
                    <a:pt x="0" y="0"/>
                  </a:moveTo>
                  <a:lnTo>
                    <a:pt x="1693333" y="0"/>
                  </a:lnTo>
                  <a:lnTo>
                    <a:pt x="1693333" y="790532"/>
                  </a:lnTo>
                  <a:lnTo>
                    <a:pt x="0" y="7905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93333" cy="819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8C6F84E0-D579-ACAC-A537-4EDA83BF3B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050" y="7196068"/>
            <a:ext cx="4169011" cy="25630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proposed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Solusi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Bekerja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proses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input → proses → output.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900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5739" y="10159188"/>
            <a:ext cx="12868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4570349"/>
            <a:chOff x="0" y="0"/>
            <a:chExt cx="1681156" cy="12796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279617"/>
            </a:xfrm>
            <a:custGeom>
              <a:avLst/>
              <a:gdLst/>
              <a:ahLst/>
              <a:cxnLst/>
              <a:rect l="l" t="t" r="r" b="b"/>
              <a:pathLst>
                <a:path w="1681156" h="1279617">
                  <a:moveTo>
                    <a:pt x="0" y="0"/>
                  </a:moveTo>
                  <a:lnTo>
                    <a:pt x="1681156" y="0"/>
                  </a:lnTo>
                  <a:lnTo>
                    <a:pt x="1681156" y="1279617"/>
                  </a:lnTo>
                  <a:lnTo>
                    <a:pt x="0" y="12796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Ketika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seorang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fresh graduate IT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mendaftar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platform,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mereka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cukup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memasukkan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tautan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GitHub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mengunggah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CV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mereka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Dari sana,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sistem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otomatis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mengekstrak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bahasa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pemrograman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aktivitas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repository,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teknologi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 GitHub,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sekaligus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membaca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pengalaman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latar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belakang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pendidikan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CV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lalu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menggabungkan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semuanya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menjadi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satu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komprehensif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objektif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tersebut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selanjutnya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dibandingkan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database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lowongan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metode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similarity matching, 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menghasilkan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skor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berbagai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posisi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pekerjaan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tersedia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Dari proses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sistem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juga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bersamaan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menganalisis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kesenjangan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dimiliki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benar-benar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dibutuhkan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industri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Hasilnya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pengguna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mendapatkan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rekomendasi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pekerjaan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relevan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lengkap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skor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kecocokannya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laporan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gap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spesifik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serta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roadmap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belajar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dipersonalisasi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semuanya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nyata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sekadar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perkiraan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308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impact &amp; outcome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Manfaat Utama Jika Solusi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Diterapkan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perubahan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positif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diharapkan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bagi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pengguna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industri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atau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masyarakat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800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56412" y="10159188"/>
            <a:ext cx="138013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8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4075049"/>
            <a:chOff x="0" y="0"/>
            <a:chExt cx="1681156" cy="11409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140942"/>
            </a:xfrm>
            <a:custGeom>
              <a:avLst/>
              <a:gdLst/>
              <a:ahLst/>
              <a:cxnLst/>
              <a:rect l="l" t="t" r="r" b="b"/>
              <a:pathLst>
                <a:path w="1681156" h="1140942">
                  <a:moveTo>
                    <a:pt x="0" y="0"/>
                  </a:moveTo>
                  <a:lnTo>
                    <a:pt x="1681156" y="0"/>
                  </a:lnTo>
                  <a:lnTo>
                    <a:pt x="1681156" y="1140942"/>
                  </a:lnTo>
                  <a:lnTo>
                    <a:pt x="0" y="11409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Solusi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membantu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fresh graduate 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memperoleh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rekomendasi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pekerjaan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lebih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akurat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berdasarkan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analisis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GitHub dan CV,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sehingga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peluang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diterima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meningkat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Perusahaan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dapat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merekrut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lebih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cepat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objektif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sesuai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kebutuhan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skill. Selain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itu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laporan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gap dan roadmap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belajar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dipersonalisasi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membantu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pengguna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mengembangkan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kemampuan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terarah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sehingga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mengurangi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kesenjangan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antara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kompetensi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lulusan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kebutuhan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industri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169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99494" y="6140927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Dampak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Jangka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Menengah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Uraikan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dampak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waktu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dekat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beberapa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bulan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/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tahun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depan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600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99494" y="6813637"/>
            <a:ext cx="6004506" cy="3122363"/>
            <a:chOff x="0" y="0"/>
            <a:chExt cx="1681156" cy="8742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1156" cy="874207"/>
            </a:xfrm>
            <a:custGeom>
              <a:avLst/>
              <a:gdLst/>
              <a:ahLst/>
              <a:cxnLst/>
              <a:rect l="l" t="t" r="r" b="b"/>
              <a:pathLst>
                <a:path w="1681156" h="874207">
                  <a:moveTo>
                    <a:pt x="0" y="0"/>
                  </a:moveTo>
                  <a:lnTo>
                    <a:pt x="1681156" y="0"/>
                  </a:lnTo>
                  <a:lnTo>
                    <a:pt x="1681156" y="874207"/>
                  </a:lnTo>
                  <a:lnTo>
                    <a:pt x="0" y="8742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Dalam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jangka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pendek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pengguna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dapat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langsung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memperoleh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rekomendasi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pekerjaan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relevan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mengetahui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gap,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mulai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mengikuti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roadmap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belajar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sesuai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kebutuhan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industri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Dalam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jangka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menengah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terjadi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peningkatan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kompetensi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pengguna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terarah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peluang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lebih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tinggi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serta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berkurangnya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mismatch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antara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lulusan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kebutuhan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industri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sehingga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proses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rekrutmen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menjadi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lebih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efisien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berkualitas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en-US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81156" cy="902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innovation &amp; differentiation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Membuat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Solusi Ini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Berbeda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unsur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keunikan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atau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pendekatan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baru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56908" y="10159188"/>
            <a:ext cx="13751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9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3579749"/>
            <a:chOff x="0" y="0"/>
            <a:chExt cx="1681156" cy="1002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002267"/>
            </a:xfrm>
            <a:custGeom>
              <a:avLst/>
              <a:gdLst/>
              <a:ahLst/>
              <a:cxnLst/>
              <a:rect l="l" t="t" r="r" b="b"/>
              <a:pathLst>
                <a:path w="1681156" h="1002267">
                  <a:moveTo>
                    <a:pt x="0" y="0"/>
                  </a:moveTo>
                  <a:lnTo>
                    <a:pt x="1681156" y="0"/>
                  </a:lnTo>
                  <a:lnTo>
                    <a:pt x="1681156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Berbeda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platform job matching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konvensional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mengandalkan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CV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deskripsi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menilai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kemampuan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tidak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bisa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dikarang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aktivitas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nyata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 GitHub.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Pendekatan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menghasilkan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jauh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lebih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objektif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akurat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dibandingkan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sekadar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membaca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tulisan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tentang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dirinya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sendiri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Keunikan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lainnya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terletak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pada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kombinasi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dua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sumber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sekaligus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yaitu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GitHub dan CV.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Keduanya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saling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melengkapi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GitHub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membuktikan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kemampuan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CV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memberikan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konteks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pengalaman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latar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belakang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Hasilnya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rekomendasi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pekerjaan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tetapi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juga skill gap report dan roadmap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belajar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dipersonalisasi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menjadikan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sekadar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pencari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melainkan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platform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pengembangan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karier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nyata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5634508"/>
            <a:ext cx="5946651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Posisi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Solusi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Dibanding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Pendekatan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atau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Produk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Sudah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Ada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sudah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ada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serupa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pasar,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melengkapi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memperbaiki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atau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melampaui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pendekatan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tersebut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56000" y="6501918"/>
            <a:ext cx="6048000" cy="3434082"/>
            <a:chOff x="0" y="0"/>
            <a:chExt cx="1693333" cy="9614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3333" cy="961482"/>
            </a:xfrm>
            <a:custGeom>
              <a:avLst/>
              <a:gdLst/>
              <a:ahLst/>
              <a:cxnLst/>
              <a:rect l="l" t="t" r="r" b="b"/>
              <a:pathLst>
                <a:path w="1693333" h="961482">
                  <a:moveTo>
                    <a:pt x="0" y="0"/>
                  </a:moveTo>
                  <a:lnTo>
                    <a:pt x="1693333" y="0"/>
                  </a:lnTo>
                  <a:lnTo>
                    <a:pt x="1693333" y="961482"/>
                  </a:lnTo>
                  <a:lnTo>
                    <a:pt x="0" y="9614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Platform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seperti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LinkedIn, Glints,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Jobstreet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sudah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lebih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dulu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hadir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sebagai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rekrutmen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digital,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namun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ketiganya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masih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sangat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bergantung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pada CV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deskripsi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bersifat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subjektif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Proses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terjadi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pun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cenderung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kata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kunci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penilaian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kemampuan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sesungguhnya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hadir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mengisi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celah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tersebut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menganalisis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GitHub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langsung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mampu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menilai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kompetensi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objektif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sesuatu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tidak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dilakukan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oleh platform-platform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tersebut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Bagi fresh graduate IT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belum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punya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pengalaman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panjang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memberikan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kesempatan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membuktikan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kemampuan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nyata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mereka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melalui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karya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sekadar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kata-kata.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  <a:p>
              <a:pPr algn="just">
                <a:lnSpc>
                  <a:spcPct val="150000"/>
                </a:lnSpc>
              </a:pP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93333" cy="99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technical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Teknologi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Utama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Digunakan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Sebutkan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teknologi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atau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pendekatan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utama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(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contoh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AI,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aplikasi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web, mobile, data analytics, automation).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75251" y="10159188"/>
            <a:ext cx="219174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10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2118209"/>
            <a:ext cx="6004506" cy="3579749"/>
            <a:chOff x="0" y="0"/>
            <a:chExt cx="1681156" cy="1002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002267"/>
            </a:xfrm>
            <a:custGeom>
              <a:avLst/>
              <a:gdLst/>
              <a:ahLst/>
              <a:cxnLst/>
              <a:rect l="l" t="t" r="r" b="b"/>
              <a:pathLst>
                <a:path w="1681156" h="1002267">
                  <a:moveTo>
                    <a:pt x="0" y="0"/>
                  </a:moveTo>
                  <a:lnTo>
                    <a:pt x="1681156" y="0"/>
                  </a:lnTo>
                  <a:lnTo>
                    <a:pt x="1681156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dibangun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sebagai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aplikasi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web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Next.js di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frontend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FastAPI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(Python) di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backend. Data GitHub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diambil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melalui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GitHub API,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sementara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CV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diproses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Large Language Model (LLM) via OpenAI API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mengekstrak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kontekstual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Proses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lowongan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dilakukan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metode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cosine similarity,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menghasilkan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skor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terukur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Seluruh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disimpan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dikelola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PostgreSQL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sebagai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basis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utama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7747" y="583433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Pemilihan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Penggunaan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Teknologi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memilih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teknologi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tersebut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cara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menggunakannya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600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77747" y="6511249"/>
            <a:ext cx="6004506" cy="3424751"/>
            <a:chOff x="0" y="0"/>
            <a:chExt cx="1681156" cy="9588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1156" cy="958870"/>
            </a:xfrm>
            <a:custGeom>
              <a:avLst/>
              <a:gdLst/>
              <a:ahLst/>
              <a:cxnLst/>
              <a:rect l="l" t="t" r="r" b="b"/>
              <a:pathLst>
                <a:path w="1681156" h="958870">
                  <a:moveTo>
                    <a:pt x="0" y="0"/>
                  </a:moveTo>
                  <a:lnTo>
                    <a:pt x="1681156" y="0"/>
                  </a:lnTo>
                  <a:lnTo>
                    <a:pt x="1681156" y="958870"/>
                  </a:lnTo>
                  <a:lnTo>
                    <a:pt x="0" y="958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Next.js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dipilih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sebagai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frontend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karena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mendukung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rendering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cepat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pengalaman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pengguna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responsif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FastAPI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sebagai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backend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karena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performanya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tinggi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kompatibel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ekosistem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Python yang kaya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pemrosesan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data. 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GitHub API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mengambil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langsung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objektif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sementara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OpenAI API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menghasilkan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urutan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roadmap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belajar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kontekstual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berdasarkan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gap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terdeteksi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PostgreSQL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menyimpan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job listings,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dan progress roadmap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persisten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terstruktur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81156" cy="987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technical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Algoritma Solusi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algoritma AI/ML dan/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atau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blockchain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gunakan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57504" y="10159188"/>
            <a:ext cx="13692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48819" y="1927709"/>
            <a:ext cx="6004506" cy="3579749"/>
            <a:chOff x="0" y="0"/>
            <a:chExt cx="1681156" cy="1002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002267"/>
            </a:xfrm>
            <a:custGeom>
              <a:avLst/>
              <a:gdLst/>
              <a:ahLst/>
              <a:cxnLst/>
              <a:rect l="l" t="t" r="r" b="b"/>
              <a:pathLst>
                <a:path w="1681156" h="1002267">
                  <a:moveTo>
                    <a:pt x="0" y="0"/>
                  </a:moveTo>
                  <a:lnTo>
                    <a:pt x="1681156" y="0"/>
                  </a:lnTo>
                  <a:lnTo>
                    <a:pt x="1681156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pendekatan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algoritmik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saling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melengkapi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Pertama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ekstraksi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CV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dilakukan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Large Language Model (LLM) via OpenAI API,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mampu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memahami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konteks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pengalaman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pendidikan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semantik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Kedua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lowongan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cosine similarity, di mana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deskripsi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pekerjaan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direpresentasikan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sebagai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vektor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lalu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dihitung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kemiripannya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menghasilkan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skor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Ketiga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deteksi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gap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operasi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set difference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skill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dibutuhkan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hasilnya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dikirim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LLM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menghasilkan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urutan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roadmap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belajar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kontekstual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dipersonalisasi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5634508"/>
            <a:ext cx="5946651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Data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atau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Input Utama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Digunakan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data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digunakan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mana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asalnya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serta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kualitas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keandalan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data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tersebut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900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56000" y="6501918"/>
            <a:ext cx="6004506" cy="3434082"/>
            <a:chOff x="0" y="0"/>
            <a:chExt cx="1681156" cy="9614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1156" cy="961482"/>
            </a:xfrm>
            <a:custGeom>
              <a:avLst/>
              <a:gdLst/>
              <a:ahLst/>
              <a:cxnLst/>
              <a:rect l="l" t="t" r="r" b="b"/>
              <a:pathLst>
                <a:path w="1681156" h="961482">
                  <a:moveTo>
                    <a:pt x="0" y="0"/>
                  </a:moveTo>
                  <a:lnTo>
                    <a:pt x="1681156" y="0"/>
                  </a:lnTo>
                  <a:lnTo>
                    <a:pt x="1681156" y="961482"/>
                  </a:lnTo>
                  <a:lnTo>
                    <a:pt x="0" y="9614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sumber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utama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Pertama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data GitHub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diambil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langsung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melalui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GitHub API,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mencakup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bahasa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pemrograman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repositori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publik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aktivitas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kontribusi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teknologi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bersifat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objektif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karena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mencerminkan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aktivitas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nyata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pernyataan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sepihak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Kedua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dokumen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CV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dalam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format PDF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atau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DOCX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diunggah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pengguna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memuat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pengalaman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latar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belakang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pendidikan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Ketiga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lowongan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dikumpulkan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melalui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kombinasi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web scraping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platform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rekrutmen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seperti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Glints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Jobstreet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kemudian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dikurasi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manual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memastikan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kelengkapan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akurasi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skill per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posisi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Pendekatan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menjaga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kualitas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relevansi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database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lowongan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sehingga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proses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dapat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dilakukan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akurat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terpercaya</a:t>
              </a: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81156" cy="99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technical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2791073"/>
            <a:ext cx="5946651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Pertimbangan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Keamanan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Skalabilitas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Uraikan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secara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singkat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memperhatikan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keamanan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data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potensi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pengembangan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ke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depan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600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4025" y="10159188"/>
            <a:ext cx="190401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312149"/>
            <a:ext cx="6004506" cy="1350899"/>
            <a:chOff x="0" y="0"/>
            <a:chExt cx="1681156" cy="3782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378228"/>
            </a:xfrm>
            <a:custGeom>
              <a:avLst/>
              <a:gdLst/>
              <a:ahLst/>
              <a:cxnLst/>
              <a:rect l="l" t="t" r="r" b="b"/>
              <a:pathLst>
                <a:path w="1681156" h="378228">
                  <a:moveTo>
                    <a:pt x="0" y="0"/>
                  </a:moveTo>
                  <a:lnTo>
                    <a:pt x="1681156" y="0"/>
                  </a:lnTo>
                  <a:lnTo>
                    <a:pt x="1681156" y="378228"/>
                  </a:lnTo>
                  <a:lnTo>
                    <a:pt x="0" y="3782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40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000" y="3664959"/>
            <a:ext cx="6004506" cy="3434082"/>
            <a:chOff x="0" y="0"/>
            <a:chExt cx="1681156" cy="9614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81156" cy="961482"/>
            </a:xfrm>
            <a:custGeom>
              <a:avLst/>
              <a:gdLst/>
              <a:ahLst/>
              <a:cxnLst/>
              <a:rect l="l" t="t" r="r" b="b"/>
              <a:pathLst>
                <a:path w="1681156" h="961482">
                  <a:moveTo>
                    <a:pt x="0" y="0"/>
                  </a:moveTo>
                  <a:lnTo>
                    <a:pt x="1681156" y="0"/>
                  </a:lnTo>
                  <a:lnTo>
                    <a:pt x="1681156" y="961482"/>
                  </a:lnTo>
                  <a:lnTo>
                    <a:pt x="0" y="9614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Dari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keamanan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mengakses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repositori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publik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GitHub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sehingga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tidak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memerlukan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izin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akses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privat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pengguna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Dokumen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CV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dienkripsi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disimpan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dihapus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setelah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proses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ekstraksi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selesai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meminimalkan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risiko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kebocoran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pribadi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Autentikasi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pengguna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OAuth 2.0.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Dari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skalabilitas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arsitektur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API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memungkinkan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setiap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komponen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dikembangkan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independen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Ke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platform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dapat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diperluas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menambahkan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sumber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lowongan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platform lain,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mendukung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bidang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pekerjaan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luar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IT,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serta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mengintegrasikan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fitur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pelacakan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lamaran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81156" cy="99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implementation feasibility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Status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saat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sedang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dalam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tahap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Misalnya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ide / mockup / POC / prototype / pilot project?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91424" y="10159188"/>
            <a:ext cx="20300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63269"/>
            <a:ext cx="6048000" cy="607949"/>
            <a:chOff x="0" y="0"/>
            <a:chExt cx="1693333" cy="1702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170215"/>
            </a:xfrm>
            <a:custGeom>
              <a:avLst/>
              <a:gdLst/>
              <a:ahLst/>
              <a:cxnLst/>
              <a:rect l="l" t="t" r="r" b="b"/>
              <a:pathLst>
                <a:path w="1693333" h="170215">
                  <a:moveTo>
                    <a:pt x="0" y="0"/>
                  </a:moveTo>
                  <a:lnTo>
                    <a:pt x="1693333" y="0"/>
                  </a:lnTo>
                  <a:lnTo>
                    <a:pt x="1693333" y="170215"/>
                  </a:lnTo>
                  <a:lnTo>
                    <a:pt x="0" y="170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Mockup</a:t>
              </a: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198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2694181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Apakah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Realistis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untuk Dibagun?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 masuk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akal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untuk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direalisasikan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oleh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56000" y="3371091"/>
            <a:ext cx="6048000" cy="3579749"/>
            <a:chOff x="0" y="0"/>
            <a:chExt cx="1693333" cy="10022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3333" cy="1002267"/>
            </a:xfrm>
            <a:custGeom>
              <a:avLst/>
              <a:gdLst/>
              <a:ahLst/>
              <a:cxnLst/>
              <a:rect l="l" t="t" r="r" b="b"/>
              <a:pathLst>
                <a:path w="1693333" h="1002267">
                  <a:moveTo>
                    <a:pt x="0" y="0"/>
                  </a:moveTo>
                  <a:lnTo>
                    <a:pt x="1693333" y="0"/>
                  </a:lnTo>
                  <a:lnTo>
                    <a:pt x="1693333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realistis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dibangun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karena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seluruh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komponen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teknisnya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selaras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kapabilitas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tim.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Tim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terdiri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empat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orang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lebih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keahlian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saling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melengkapi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mencakup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pengembangan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web frontend dan backend,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pemrosesan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Python,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integrasi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API, web scraping,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serta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machine learning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kecerdasan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artifisial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Teknologi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sepenuhnya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pustaka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layanan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sudah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tersedia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publik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sehingga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tidak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memerlukan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pengembangan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infrastruktur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nol.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Kombinasi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keahlian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pendekatan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teknologi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terukur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menjadikan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sekadar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ide,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melainkan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solusi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siap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mampu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direalisasikan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93333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56000" y="7074665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Tahapan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Pengembangan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Uraikan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rencana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tahapan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implementasi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awal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hingga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MVP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atau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pilot.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900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56000" y="7751575"/>
            <a:ext cx="6048000" cy="2184425"/>
            <a:chOff x="0" y="0"/>
            <a:chExt cx="1693333" cy="6116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93333" cy="611601"/>
            </a:xfrm>
            <a:custGeom>
              <a:avLst/>
              <a:gdLst/>
              <a:ahLst/>
              <a:cxnLst/>
              <a:rect l="l" t="t" r="r" b="b"/>
              <a:pathLst>
                <a:path w="1693333" h="611601">
                  <a:moveTo>
                    <a:pt x="0" y="0"/>
                  </a:moveTo>
                  <a:lnTo>
                    <a:pt x="1693333" y="0"/>
                  </a:lnTo>
                  <a:lnTo>
                    <a:pt x="1693333" y="611601"/>
                  </a:lnTo>
                  <a:lnTo>
                    <a:pt x="0" y="611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Pengembangan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dibagi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menjadi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tahap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utama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Tahap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pertama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adalah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persiapan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fondasi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mencakup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finalisasi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desain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sistem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perancangan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basis data,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serta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pengumpulan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kurasi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lowongan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kerja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dari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hasil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scraping Glints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Jobstreet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Tahap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kedua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adalah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pengembangan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inti,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meliputi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integrasi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GitHub API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ekstraksi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implementasi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pemrosesan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CV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LLM,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pembangunan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mesin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pencocokan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cosine similarity,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serta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pengembangan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antarmuka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pengguna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Next.js dan backend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FastAPI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693333" cy="640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implementation feasibility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4024148"/>
            <a:ext cx="6038425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Bisnis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Model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Keberlanjutan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Gambarkan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bisnis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model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dalam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bentuk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business model canvas,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serta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lebih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detail.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1000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93706" y="10159188"/>
            <a:ext cx="20072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312149"/>
            <a:ext cx="6048000" cy="2589149"/>
            <a:chOff x="0" y="0"/>
            <a:chExt cx="1693333" cy="7249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724916"/>
            </a:xfrm>
            <a:custGeom>
              <a:avLst/>
              <a:gdLst/>
              <a:ahLst/>
              <a:cxnLst/>
              <a:rect l="l" t="t" r="r" b="b"/>
              <a:pathLst>
                <a:path w="1693333" h="724916">
                  <a:moveTo>
                    <a:pt x="0" y="0"/>
                  </a:moveTo>
                  <a:lnTo>
                    <a:pt x="1693333" y="0"/>
                  </a:lnTo>
                  <a:lnTo>
                    <a:pt x="1693333" y="724916"/>
                  </a:lnTo>
                  <a:lnTo>
                    <a:pt x="0" y="724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Tahap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ketiga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adalah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pengujian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MVP,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mencakup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uji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coba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sistem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menyeluruh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perbaikan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berdasarkan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hasil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pengujian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serta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peluncuran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versi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awal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platform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sudah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dapat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digunakan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melakukan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job matching,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melihat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skill gap report,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mengakses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learning roadmap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fungsional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endParaRPr lang="en-ID" sz="120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753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000" y="4896407"/>
            <a:ext cx="6048000" cy="5039593"/>
            <a:chOff x="0" y="0"/>
            <a:chExt cx="1693333" cy="14109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1410997"/>
            </a:xfrm>
            <a:custGeom>
              <a:avLst/>
              <a:gdLst/>
              <a:ahLst/>
              <a:cxnLst/>
              <a:rect l="l" t="t" r="r" b="b"/>
              <a:pathLst>
                <a:path w="1693333" h="1410997">
                  <a:moveTo>
                    <a:pt x="0" y="0"/>
                  </a:moveTo>
                  <a:lnTo>
                    <a:pt x="1693333" y="0"/>
                  </a:lnTo>
                  <a:lnTo>
                    <a:pt x="1693333" y="1410997"/>
                  </a:lnTo>
                  <a:lnTo>
                    <a:pt x="0" y="14109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ID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GitHire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bermitra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platform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rekrutmen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penyedia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teknologi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memastikan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ketersediaan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kemampuan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sistem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Aktivitas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utama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mencakup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pengembangan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platform,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kurasi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lowongan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dan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pemeliharaan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model AI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berkelanjutan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Proposisi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nilai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dibedakan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mendapat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layanan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gratis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berupa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job matching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berbasis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GitHub, skill gap report, dan learning roadmap,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serta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perusahaan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yang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berlangganan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mengakses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database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kandidat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terverifikasi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teknis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1439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E7D5170-703D-E233-23F5-DC2E8CDBC1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84" y="4815358"/>
            <a:ext cx="6099152" cy="34307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ACFB2-C7EA-79E4-8A30-CAEFB208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B28E5EF-1F26-8E44-1C00-ADA943230D34}"/>
              </a:ext>
            </a:extLst>
          </p:cNvPr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implementation feasibility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D25972C-CDE0-1D5C-17AF-C9A7B8106E13}"/>
              </a:ext>
            </a:extLst>
          </p:cNvPr>
          <p:cNvSpPr txBox="1"/>
          <p:nvPr/>
        </p:nvSpPr>
        <p:spPr>
          <a:xfrm>
            <a:off x="6593706" y="10159188"/>
            <a:ext cx="20072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14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4AE0B18-8AA9-0A9C-4976-AB0D97CDCB30}"/>
              </a:ext>
            </a:extLst>
          </p:cNvPr>
          <p:cNvGrpSpPr/>
          <p:nvPr/>
        </p:nvGrpSpPr>
        <p:grpSpPr>
          <a:xfrm>
            <a:off x="756000" y="1210089"/>
            <a:ext cx="6048000" cy="2691209"/>
            <a:chOff x="0" y="-28575"/>
            <a:chExt cx="1693333" cy="75349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257A42B-030F-FAC7-03A0-0B557A50C9EC}"/>
                </a:ext>
              </a:extLst>
            </p:cNvPr>
            <p:cNvSpPr/>
            <p:nvPr/>
          </p:nvSpPr>
          <p:spPr>
            <a:xfrm>
              <a:off x="0" y="0"/>
              <a:ext cx="1693333" cy="212213"/>
            </a:xfrm>
            <a:custGeom>
              <a:avLst/>
              <a:gdLst/>
              <a:ahLst/>
              <a:cxnLst/>
              <a:rect l="l" t="t" r="r" b="b"/>
              <a:pathLst>
                <a:path w="1693333" h="724916">
                  <a:moveTo>
                    <a:pt x="0" y="0"/>
                  </a:moveTo>
                  <a:lnTo>
                    <a:pt x="1693333" y="0"/>
                  </a:lnTo>
                  <a:lnTo>
                    <a:pt x="1693333" y="724916"/>
                  </a:lnTo>
                  <a:lnTo>
                    <a:pt x="0" y="724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>
                <a:lnSpc>
                  <a:spcPct val="150000"/>
                </a:lnSpc>
              </a:pP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Monetisasi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berjalan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dalam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dua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fase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yaitu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fase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awal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membangun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basis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pengguna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secara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organik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fase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berikutnya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mengaktifkan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langganan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B2B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untuk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D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perusahaan</a:t>
              </a:r>
              <a:r>
                <a:rPr lang="en-ID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dan recruiter.</a:t>
              </a:r>
              <a:endParaRPr lang="en-ID" sz="1200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8076B2F-5251-0A18-9BB1-4962658E18A2}"/>
                </a:ext>
              </a:extLst>
            </p:cNvPr>
            <p:cNvSpPr txBox="1"/>
            <p:nvPr/>
          </p:nvSpPr>
          <p:spPr>
            <a:xfrm>
              <a:off x="0" y="-28575"/>
              <a:ext cx="1693333" cy="753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608A95EF-756C-696E-2FEB-9B381CFA805C}"/>
              </a:ext>
            </a:extLst>
          </p:cNvPr>
          <p:cNvSpPr txBox="1"/>
          <p:nvPr/>
        </p:nvSpPr>
        <p:spPr>
          <a:xfrm>
            <a:off x="756000" y="4794347"/>
            <a:ext cx="6048000" cy="514165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  <a:p>
            <a:pPr algn="ctr">
              <a:lnSpc>
                <a:spcPts val="196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9345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attachment &amp; reference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163737"/>
            <a:ext cx="6038425" cy="93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71" lvl="1" indent="-140336" algn="l">
              <a:lnSpc>
                <a:spcPts val="1820"/>
              </a:lnSpc>
              <a:buFont typeface="Arial"/>
              <a:buChar char="•"/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Lampirkan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capturing mockup / POC / prototype / pilot project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relevan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dengan proyek Anda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berupa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screenshoot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ada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(tidak mandatory).</a:t>
            </a:r>
          </a:p>
          <a:p>
            <a:pPr marL="280671" lvl="1" indent="-140336" algn="l">
              <a:lnSpc>
                <a:spcPts val="1820"/>
              </a:lnSpc>
              <a:buFont typeface="Arial"/>
              <a:buChar char="•"/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Lampirkan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hal-hal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belum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dalam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uraian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atas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280671" lvl="1" indent="-140336" algn="l">
              <a:lnSpc>
                <a:spcPts val="1820"/>
              </a:lnSpc>
              <a:spcBef>
                <a:spcPct val="0"/>
              </a:spcBef>
              <a:buFont typeface="Arial"/>
              <a:buChar char="•"/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Berikan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referensi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sumber-sumber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Anda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kutip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88150" y="10159188"/>
            <a:ext cx="206276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2228148"/>
            <a:ext cx="6048000" cy="7707852"/>
            <a:chOff x="0" y="0"/>
            <a:chExt cx="1693333" cy="21580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2158062"/>
            </a:xfrm>
            <a:custGeom>
              <a:avLst/>
              <a:gdLst/>
              <a:ahLst/>
              <a:cxnLst/>
              <a:rect l="l" t="t" r="r" b="b"/>
              <a:pathLst>
                <a:path w="1693333" h="2158062">
                  <a:moveTo>
                    <a:pt x="0" y="0"/>
                  </a:moveTo>
                  <a:lnTo>
                    <a:pt x="1693333" y="0"/>
                  </a:lnTo>
                  <a:lnTo>
                    <a:pt x="1693333" y="2158062"/>
                  </a:lnTo>
                  <a:lnTo>
                    <a:pt x="0" y="21580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2186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60000" cy="10692000"/>
          </a:xfrm>
          <a:custGeom>
            <a:avLst/>
            <a:gdLst/>
            <a:ahLst/>
            <a:cxnLst/>
            <a:rect l="l" t="t" r="r" b="b"/>
            <a:pathLst>
              <a:path w="7560000" h="10692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1" t="-4099" r="-1511" b="-409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22613" y="4693338"/>
            <a:ext cx="5114773" cy="652662"/>
            <a:chOff x="0" y="0"/>
            <a:chExt cx="6819698" cy="870217"/>
          </a:xfrm>
        </p:grpSpPr>
        <p:sp>
          <p:nvSpPr>
            <p:cNvPr id="4" name="Freeform 4"/>
            <p:cNvSpPr/>
            <p:nvPr/>
          </p:nvSpPr>
          <p:spPr>
            <a:xfrm>
              <a:off x="3255378" y="0"/>
              <a:ext cx="601698" cy="870217"/>
            </a:xfrm>
            <a:custGeom>
              <a:avLst/>
              <a:gdLst/>
              <a:ahLst/>
              <a:cxnLst/>
              <a:rect l="l" t="t" r="r" b="b"/>
              <a:pathLst>
                <a:path w="601698" h="870217">
                  <a:moveTo>
                    <a:pt x="0" y="0"/>
                  </a:moveTo>
                  <a:lnTo>
                    <a:pt x="601698" y="0"/>
                  </a:lnTo>
                  <a:lnTo>
                    <a:pt x="601698" y="870217"/>
                  </a:lnTo>
                  <a:lnTo>
                    <a:pt x="0" y="870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1018" r="-592956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975127" y="84686"/>
              <a:ext cx="2844570" cy="700844"/>
            </a:xfrm>
            <a:custGeom>
              <a:avLst/>
              <a:gdLst/>
              <a:ahLst/>
              <a:cxnLst/>
              <a:rect l="l" t="t" r="r" b="b"/>
              <a:pathLst>
                <a:path w="2844570" h="700844">
                  <a:moveTo>
                    <a:pt x="0" y="0"/>
                  </a:moveTo>
                  <a:lnTo>
                    <a:pt x="2844571" y="0"/>
                  </a:lnTo>
                  <a:lnTo>
                    <a:pt x="2844571" y="700844"/>
                  </a:lnTo>
                  <a:lnTo>
                    <a:pt x="0" y="700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22138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3135922" cy="812019"/>
            </a:xfrm>
            <a:custGeom>
              <a:avLst/>
              <a:gdLst/>
              <a:ahLst/>
              <a:cxnLst/>
              <a:rect l="l" t="t" r="r" b="b"/>
              <a:pathLst>
                <a:path w="3135922" h="812019">
                  <a:moveTo>
                    <a:pt x="0" y="0"/>
                  </a:moveTo>
                  <a:lnTo>
                    <a:pt x="3135922" y="0"/>
                  </a:lnTo>
                  <a:lnTo>
                    <a:pt x="3135922" y="812019"/>
                  </a:lnTo>
                  <a:lnTo>
                    <a:pt x="0" y="812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2337" r="-1127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98134" y="5555342"/>
            <a:ext cx="534122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berinovasi untuk masa depan,</a:t>
            </a:r>
          </a:p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memberdayakan talenta digital</a:t>
            </a:r>
          </a:p>
        </p:txBody>
      </p:sp>
      <p:sp>
        <p:nvSpPr>
          <p:cNvPr id="8" name="Freeform 8"/>
          <p:cNvSpPr/>
          <p:nvPr/>
        </p:nvSpPr>
        <p:spPr>
          <a:xfrm>
            <a:off x="1099298" y="756000"/>
            <a:ext cx="1197187" cy="225833"/>
          </a:xfrm>
          <a:custGeom>
            <a:avLst/>
            <a:gdLst/>
            <a:ahLst/>
            <a:cxnLst/>
            <a:rect l="l" t="t" r="r" b="b"/>
            <a:pathLst>
              <a:path w="1197187" h="225833">
                <a:moveTo>
                  <a:pt x="0" y="0"/>
                </a:moveTo>
                <a:lnTo>
                  <a:pt x="1197187" y="0"/>
                </a:lnTo>
                <a:lnTo>
                  <a:pt x="1197187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548199" y="756000"/>
            <a:ext cx="519156" cy="225833"/>
          </a:xfrm>
          <a:custGeom>
            <a:avLst/>
            <a:gdLst/>
            <a:ahLst/>
            <a:cxnLst/>
            <a:rect l="l" t="t" r="r" b="b"/>
            <a:pathLst>
              <a:path w="519156" h="225833">
                <a:moveTo>
                  <a:pt x="0" y="0"/>
                </a:moveTo>
                <a:lnTo>
                  <a:pt x="519156" y="0"/>
                </a:lnTo>
                <a:lnTo>
                  <a:pt x="51915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315005" y="756000"/>
            <a:ext cx="728085" cy="225833"/>
          </a:xfrm>
          <a:custGeom>
            <a:avLst/>
            <a:gdLst/>
            <a:ahLst/>
            <a:cxnLst/>
            <a:rect l="l" t="t" r="r" b="b"/>
            <a:pathLst>
              <a:path w="728085" h="225833">
                <a:moveTo>
                  <a:pt x="0" y="0"/>
                </a:moveTo>
                <a:lnTo>
                  <a:pt x="728086" y="0"/>
                </a:lnTo>
                <a:lnTo>
                  <a:pt x="72808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290741" y="756000"/>
            <a:ext cx="422447" cy="225833"/>
          </a:xfrm>
          <a:custGeom>
            <a:avLst/>
            <a:gdLst/>
            <a:ahLst/>
            <a:cxnLst/>
            <a:rect l="l" t="t" r="r" b="b"/>
            <a:pathLst>
              <a:path w="422447" h="225833">
                <a:moveTo>
                  <a:pt x="0" y="0"/>
                </a:moveTo>
                <a:lnTo>
                  <a:pt x="422446" y="0"/>
                </a:lnTo>
                <a:lnTo>
                  <a:pt x="42244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960837" y="756000"/>
            <a:ext cx="781729" cy="225833"/>
          </a:xfrm>
          <a:custGeom>
            <a:avLst/>
            <a:gdLst/>
            <a:ahLst/>
            <a:cxnLst/>
            <a:rect l="l" t="t" r="r" b="b"/>
            <a:pathLst>
              <a:path w="781729" h="225833">
                <a:moveTo>
                  <a:pt x="0" y="0"/>
                </a:moveTo>
                <a:lnTo>
                  <a:pt x="781730" y="0"/>
                </a:lnTo>
                <a:lnTo>
                  <a:pt x="781730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990217" y="756000"/>
            <a:ext cx="470485" cy="225833"/>
          </a:xfrm>
          <a:custGeom>
            <a:avLst/>
            <a:gdLst/>
            <a:ahLst/>
            <a:cxnLst/>
            <a:rect l="l" t="t" r="r" b="b"/>
            <a:pathLst>
              <a:path w="470485" h="225833">
                <a:moveTo>
                  <a:pt x="0" y="0"/>
                </a:moveTo>
                <a:lnTo>
                  <a:pt x="470485" y="0"/>
                </a:lnTo>
                <a:lnTo>
                  <a:pt x="470485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3200</Words>
  <Application>Microsoft Office PowerPoint</Application>
  <PresentationFormat>Custom</PresentationFormat>
  <Paragraphs>579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Oxanium</vt:lpstr>
      <vt:lpstr>Mortend Bold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Template Proposal 1st Submission Hackathon Digdaya 2026</dc:title>
  <dc:creator>Muhammad Rozagi</dc:creator>
  <cp:lastModifiedBy>REGINA ADELISA</cp:lastModifiedBy>
  <cp:revision>7</cp:revision>
  <dcterms:created xsi:type="dcterms:W3CDTF">2006-08-16T00:00:00Z</dcterms:created>
  <dcterms:modified xsi:type="dcterms:W3CDTF">2026-03-31T06:46:41Z</dcterms:modified>
  <dc:identifier>DAHB19nf6LU</dc:identifier>
</cp:coreProperties>
</file>